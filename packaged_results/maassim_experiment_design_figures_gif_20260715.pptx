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49808"/>
            <a:ext cx="978408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3400" b="1">
                <a:solidFill>
                  <a:srgbClr val="16325C"/>
                </a:solidFill>
                <a:latin typeface="Aptos"/>
              </a:rPr>
              <a:t>MaaSSim x PACT Dispatch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99669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800" b="0">
                <a:solidFill>
                  <a:srgbClr val="444E5C"/>
                </a:solidFill>
                <a:latin typeface="Aptos"/>
              </a:rPr>
              <a:t>实验设计、关键图表与冲突场景动画汇总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212848"/>
            <a:ext cx="2148840" cy="960120"/>
          </a:xfrm>
          <a:prstGeom prst="roundRect">
            <a:avLst/>
          </a:prstGeom>
          <a:solidFill>
            <a:srgbClr val="285CA0"/>
          </a:solidFill>
          <a:ln>
            <a:solidFill>
              <a:srgbClr val="28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22576"/>
            <a:ext cx="19202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9202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36391" y="2212848"/>
            <a:ext cx="2148840" cy="960120"/>
          </a:xfrm>
          <a:prstGeom prst="roundRect">
            <a:avLst/>
          </a:prstGeom>
          <a:solidFill>
            <a:srgbClr val="257A6F"/>
          </a:solidFill>
          <a:ln>
            <a:solidFill>
              <a:srgbClr val="25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19" y="2322576"/>
            <a:ext cx="19202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19" y="2606040"/>
            <a:ext cx="19202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59552" y="2212848"/>
            <a:ext cx="2148840" cy="960120"/>
          </a:xfrm>
          <a:prstGeom prst="roundRect">
            <a:avLst/>
          </a:prstGeom>
          <a:solidFill>
            <a:srgbClr val="C97536"/>
          </a:solidFill>
          <a:ln>
            <a:solidFill>
              <a:srgbClr val="C97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322576"/>
            <a:ext cx="19202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Snapshots/seed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606040"/>
            <a:ext cx="19202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2711" y="2212848"/>
            <a:ext cx="2148840" cy="960120"/>
          </a:xfrm>
          <a:prstGeom prst="roundRect">
            <a:avLst/>
          </a:prstGeom>
          <a:solidFill>
            <a:srgbClr val="AC3F3F"/>
          </a:solidFill>
          <a:ln>
            <a:solidFill>
              <a:srgbClr val="AC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39" y="2322576"/>
            <a:ext cx="19202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Main 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39" y="2606040"/>
            <a:ext cx="192024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pic>
        <p:nvPicPr>
          <p:cNvPr id="16" name="Picture 15" descr="fig_maassim_experiment_demand_su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01" y="3401568"/>
            <a:ext cx="4041197" cy="2423160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pic>
        <p:nvPicPr>
          <p:cNvPr id="17" name="Picture 16" descr="fig_maassim_conflict_people_cars_llm_pact_vs_promp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039" y="3401568"/>
            <a:ext cx="3797762" cy="2423160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MaaSSim replay artifacts · normal / reject-stress / conflict-offer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实验设计：common-state replay + 隐性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所有策略在相同队列 snapshots、相同 persona maps 上评估；差异来自 dispatch / belief / prompt policy。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166360" cy="1170432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35608"/>
            <a:ext cx="48920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50" b="1">
                <a:solidFill>
                  <a:srgbClr val="285CA0"/>
                </a:solidFill>
                <a:latin typeface="Aptos"/>
              </a:rPr>
              <a:t>1. MaaSSim snapshots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01368"/>
            <a:ext cx="4892040" cy="6035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50" b="0">
                <a:solidFill>
                  <a:srgbClr val="1C232D"/>
                </a:solidFill>
                <a:latin typeface="Aptos"/>
              </a:rPr>
              <a:t>固定车辆队列、乘客请求、候选 offer 与等待/行程/价格特征。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66360" cy="1170432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35608"/>
            <a:ext cx="48920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50" b="1">
                <a:solidFill>
                  <a:srgbClr val="257A6F"/>
                </a:solidFill>
                <a:latin typeface="Aptos"/>
              </a:rPr>
              <a:t>2. Persona simulator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01368"/>
            <a:ext cx="4892040" cy="6035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50" b="0">
                <a:solidFill>
                  <a:srgbClr val="1C232D"/>
                </a:solidFill>
                <a:latin typeface="Aptos"/>
              </a:rPr>
              <a:t>司机隐藏规则控制 accept / decline；乘客 persona 控制 rider rejection。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953512"/>
            <a:ext cx="5166360" cy="1170432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48920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50" b="1">
                <a:solidFill>
                  <a:srgbClr val="C97536"/>
                </a:solidFill>
                <a:latin typeface="Aptos"/>
              </a:rPr>
              <a:t>3. Policy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892040" cy="6035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50" b="0">
                <a:solidFill>
                  <a:srgbClr val="1C232D"/>
                </a:solidFill>
                <a:latin typeface="Aptos"/>
              </a:rPr>
              <a:t>Nearest、Random、LLM-PACT、LLM-belief、LLM-PSRL、A-ToM、ECON-BNE、Oracle。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53512"/>
            <a:ext cx="5166360" cy="1170432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063240"/>
            <a:ext cx="489204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50" b="1">
                <a:solidFill>
                  <a:srgbClr val="AC3F3F"/>
                </a:solidFill>
                <a:latin typeface="Aptos"/>
              </a:rPr>
              <a:t>4.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429000"/>
            <a:ext cx="4892040" cy="6035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50" b="0">
                <a:solidFill>
                  <a:srgbClr val="1C232D"/>
                </a:solidFill>
                <a:latin typeface="Aptos"/>
              </a:rPr>
              <a:t>utility、served rides、driver rejects、passenger wait、cache hit/live-fill 记录。</a:t>
            </a:r>
          </a:p>
        </p:txBody>
      </p:sp>
      <p:pic>
        <p:nvPicPr>
          <p:cNvPr id="17" name="Picture 16" descr="fig_maassim_experiment_demand_su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651" y="4617720"/>
            <a:ext cx="2516217" cy="1508760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PACT / MaaSSim experiment package · generated from local artifacts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三类 MaaSSim scenario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5 seeds × first 20 active snapshots；utility 为 persona-aware dispatch objective。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417320"/>
          <a:ext cx="10446103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8644"/>
                <a:gridCol w="2393899"/>
                <a:gridCol w="1958644"/>
                <a:gridCol w="1741017"/>
                <a:gridCol w="1088136"/>
                <a:gridCol w="1305763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LLM-PACT utility</a:t>
                      </a:r>
                    </a:p>
                  </a:txBody>
                  <a:tcPr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Best prompt</a:t>
                      </a:r>
                    </a:p>
                  </a:txBody>
                  <a:tcPr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Prompt utility</a:t>
                      </a:r>
                    </a:p>
                  </a:txBody>
                  <a:tcPr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632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Oracle</a:t>
                      </a:r>
                    </a:p>
                  </a:txBody>
                  <a:tcPr>
                    <a:solidFill>
                      <a:srgbClr val="16325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31.29 ± 7.76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LLM-PSRL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29.81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+1.47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37.64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Reject-stress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18.37 ± 10.12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LLM-PSRL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13.77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+4.60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36.44</a:t>
                      </a:r>
                    </a:p>
                  </a:txBody>
                  <a:tcPr>
                    <a:solidFill>
                      <a:srgbClr val="F6F8FA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Conflict-offer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8.79 ± 4.84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LLM-belief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-30.90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+39.69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solidFill>
                            <a:srgbClr val="1C232D"/>
                          </a:solidFill>
                          <a:latin typeface="Aptos"/>
                        </a:defRPr>
                      </a:pPr>
                      <a:r>
                        <a:t>22.44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3154680"/>
            <a:ext cx="4754880" cy="1051560"/>
          </a:xfrm>
          <a:prstGeom prst="rect">
            <a:avLst/>
          </a:prstGeom>
          <a:noFill/>
        </p:spPr>
        <p:txBody>
          <a:bodyPr wrap="square" lIns="73152" rIns="73152" tIns="18288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1C232D"/>
                </a:solidFill>
                <a:latin typeface="Aptos"/>
              </a:defRPr>
            </a:pPr>
            <a:r>
              <a:t>• Normal: 原始 common-state replay；reject penalty = 2.0。</a:t>
            </a:r>
          </a:p>
          <a:p>
            <a:pPr>
              <a:spcAft>
                <a:spcPts val="800"/>
              </a:spcAft>
              <a:defRPr sz="1250">
                <a:solidFill>
                  <a:srgbClr val="1C232D"/>
                </a:solidFill>
                <a:latin typeface="Aptos"/>
              </a:defRPr>
            </a:pPr>
            <a:r>
              <a:t>• Reject-stress: 同一队列，但司机拒单代价提高到 5.0。</a:t>
            </a:r>
          </a:p>
          <a:p>
            <a:pPr>
              <a:spcAft>
                <a:spcPts val="800"/>
              </a:spcAft>
              <a:defRPr sz="1250">
                <a:solidFill>
                  <a:srgbClr val="1C232D"/>
                </a:solidFill>
                <a:latin typeface="Aptos"/>
              </a:defRPr>
            </a:pPr>
            <a:r>
              <a:t>• Conflict-offer: 低等待 offer 被设计成 persona-risky，测试是否识别 hidden driver constraints。</a:t>
            </a:r>
          </a:p>
        </p:txBody>
      </p:sp>
      <p:pic>
        <p:nvPicPr>
          <p:cNvPr id="7" name="Picture 6" descr="fig_maassim_experiment_scenari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300" y="2788920"/>
            <a:ext cx="4144640" cy="2651760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PACT / MaaSSim experiment package · generated from local artifacts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主结果：scenario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LLM-PACT 在 persona-risky 场景下保持更低拒单与更高 utility；Oracle 给出上限。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aassim_experiment_scenario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9257"/>
            <a:ext cx="6492240" cy="4153765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452360" y="1325880"/>
            <a:ext cx="4160520" cy="3840480"/>
          </a:xfrm>
          <a:prstGeom prst="rect">
            <a:avLst/>
          </a:prstGeom>
          <a:noFill/>
        </p:spPr>
        <p:txBody>
          <a:bodyPr wrap="square" lIns="73152" rIns="73152" tIns="18288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1C232D"/>
                </a:solidFill>
                <a:latin typeface="Aptos"/>
              </a:defRPr>
            </a:pPr>
            <a:r>
              <a:t>• Normal: LLM-PACT 31.29，best prompt 29.81，gap +1.47。</a:t>
            </a:r>
          </a:p>
          <a:p>
            <a:pPr>
              <a:spcAft>
                <a:spcPts val="800"/>
              </a:spcAft>
              <a:defRPr sz="1320">
                <a:solidFill>
                  <a:srgbClr val="1C232D"/>
                </a:solidFill>
                <a:latin typeface="Aptos"/>
              </a:defRPr>
            </a:pPr>
            <a:r>
              <a:t>• Reject-stress: LLM-PACT 18.37，best prompt 13.77，gap +4.60。</a:t>
            </a:r>
          </a:p>
          <a:p>
            <a:pPr>
              <a:spcAft>
                <a:spcPts val="800"/>
              </a:spcAft>
              <a:defRPr sz="1320">
                <a:solidFill>
                  <a:srgbClr val="1C232D"/>
                </a:solidFill>
                <a:latin typeface="Aptos"/>
              </a:defRPr>
            </a:pPr>
            <a:r>
              <a:t>• Conflict-offer: LLM-PACT 8.79，best prompt -30.90，gap +39.69。</a:t>
            </a:r>
          </a:p>
          <a:p>
            <a:pPr>
              <a:spcAft>
                <a:spcPts val="800"/>
              </a:spcAft>
              <a:defRPr sz="1320">
                <a:solidFill>
                  <a:srgbClr val="1C232D"/>
                </a:solidFill>
                <a:latin typeface="Aptos"/>
              </a:defRPr>
            </a:pPr>
            <a:r>
              <a:t>• 该组结果是 cache-first/live-fill reconstruction；用于 paired 分析，不替代原始 seed rows。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PACT / MaaSSim experiment package · generated from local artifacts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Demand / supply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MaaSSim road-network market snapshot: requests, vehicles, trip-time/fare, legal action menu size.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aassim_experiment_demand_su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438" y="1234440"/>
            <a:ext cx="8158643" cy="4892040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PACT / MaaSSim experiment package · generated from local artifacts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Conflict-offer episode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低等待 offer 被做成 persona-risky；LLM-PACT 避免看似便宜但高拒单风险的分配。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aassim_experiment_conflict_episode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891" y="1188720"/>
            <a:ext cx="7577738" cy="5074920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PACT / MaaSSim experiment package · generated from local artifacts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动画：Conflict people/cars replay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插入 GIF 文件；PowerPoint 播放模式下应显示动画。如果查看器只显示首帧，请直接打开同目录 GIF。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aassim_conflict_people_cars_llm_pact_vs_prompt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46" y="1170432"/>
            <a:ext cx="7882147" cy="5029200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GIF asset: arr_paper/figs/fig_maassim_conflict_people_cars_llm_pact_vs_prompts.gif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Persona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分离“学到 driver persona”与“仅 assignment solver 更强”的贡献。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aassim_experiment_persona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3365"/>
            <a:ext cx="6583680" cy="2099830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543800" y="1417320"/>
            <a:ext cx="3931920" cy="3108960"/>
          </a:xfrm>
          <a:prstGeom prst="rect">
            <a:avLst/>
          </a:prstGeom>
          <a:noFill/>
        </p:spPr>
        <p:txBody>
          <a:bodyPr wrap="square" lIns="73152" rIns="73152" tIns="18288">
            <a:spAutoFit/>
          </a:bodyPr>
          <a:lstStyle/>
          <a:p>
            <a:pPr>
              <a:spcAft>
                <a:spcPts val="800"/>
              </a:spcAft>
              <a:defRPr sz="1320">
                <a:solidFill>
                  <a:srgbClr val="1C232D"/>
                </a:solidFill>
                <a:latin typeface="Aptos"/>
              </a:defRPr>
            </a:pPr>
            <a:r>
              <a:t>• PACT posterior 连接到真实 driver IDs。</a:t>
            </a:r>
          </a:p>
          <a:p>
            <a:pPr>
              <a:spcAft>
                <a:spcPts val="800"/>
              </a:spcAft>
              <a:defRPr sz="1320">
                <a:solidFill>
                  <a:srgbClr val="1C232D"/>
                </a:solidFill>
                <a:latin typeface="Aptos"/>
              </a:defRPr>
            </a:pPr>
            <a:r>
              <a:t>• Shuffled posterior 破坏 driver-persona 对齐。</a:t>
            </a:r>
          </a:p>
          <a:p>
            <a:pPr>
              <a:spcAft>
                <a:spcPts val="800"/>
              </a:spcAft>
              <a:defRPr sz="1320">
                <a:solidFill>
                  <a:srgbClr val="1C232D"/>
                </a:solidFill>
                <a:latin typeface="Aptos"/>
              </a:defRPr>
            </a:pPr>
            <a:r>
              <a:t>• Oracle 使用 true hidden persona，上限验证机制。</a:t>
            </a:r>
          </a:p>
          <a:p>
            <a:pPr>
              <a:spcAft>
                <a:spcPts val="800"/>
              </a:spcAft>
              <a:defRPr sz="1320">
                <a:solidFill>
                  <a:srgbClr val="1C232D"/>
                </a:solidFill>
                <a:latin typeface="Aptos"/>
              </a:defRPr>
            </a:pPr>
            <a:r>
              <a:t>• 结论：收益来自 persona belief 与 assignment objective 的组合。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PACT / MaaSSim experiment package · generated from local artifacts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MaaSSim analogue: service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队列压力、等待时间、legal offers 与 idle vehicles 的服务面。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aassim_readme_fig2_service_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51008"/>
            <a:ext cx="10789920" cy="3504623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PACT / MaaSSim experiment package · generated from local artifacts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MaaSSim analogue: platform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dispatch objective sweep: wait weight / reject penalty / rides / utility proxy。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aassim_readme_fig3_platform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459" y="1234440"/>
            <a:ext cx="6664601" cy="4937760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PACT / MaaSSim experiment package · generated from local artifacts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MaaSSim analogue: driver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hidden driver-persona posterior、rule accuracy、decline rate 随时间变化。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aassim_readme_fig4_driver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66187"/>
            <a:ext cx="10789920" cy="3674265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PACT / MaaSSim experiment package · generated from local artifacts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MaaSSim analogue: vehicle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单车路径：空驶、载客、拒单事件的 replay trace。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aassim_readme_fig5_vehicle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2846"/>
            <a:ext cx="10789920" cy="4020948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PACT / MaaSSim experiment package · generated from local artifacts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LLM prompt baselines under same legal-action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LLM-belief / LLM-PSRL / A-ToM / ECON-BNE 均接入相同 legal assignment menu。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_maassim_llm_prompt_stress_s5_m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99872"/>
            <a:ext cx="5212080" cy="1612335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pic>
        <p:nvPicPr>
          <p:cNvPr id="6" name="Picture 5" descr="fig_maassim_llm_atom_core_s5_m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70589"/>
            <a:ext cx="4754880" cy="1470902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68680" y="4434840"/>
            <a:ext cx="10241280" cy="1005840"/>
          </a:xfrm>
          <a:prstGeom prst="rect">
            <a:avLst/>
          </a:prstGeom>
          <a:noFill/>
        </p:spPr>
        <p:txBody>
          <a:bodyPr wrap="square" lIns="73152" rIns="73152" t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C232D"/>
                </a:solidFill>
                <a:latin typeface="Aptos"/>
              </a:defRPr>
            </a:pPr>
            <a:r>
              <a:t>• Stress setup makes hidden driver persona mistakes costly; LLM-PACT separates from pure prompt baselines.</a:t>
            </a:r>
          </a:p>
          <a:p>
            <a:pPr>
              <a:spcAft>
                <a:spcPts val="800"/>
              </a:spcAft>
              <a:defRPr sz="1300">
                <a:solidFill>
                  <a:srgbClr val="1C232D"/>
                </a:solidFill>
                <a:latin typeface="Aptos"/>
              </a:defRPr>
            </a:pPr>
            <a:r>
              <a:t>• Core run has high SEM: useful as mechanism diagnostic, not a standalone significance claim.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PACT / MaaSSim experiment package · generated from local artifacts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Additional figure gallery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附录图：baseline smoke、KPI calibration、scenario slices。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41832"/>
            <a:ext cx="4892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1">
                <a:solidFill>
                  <a:srgbClr val="16325C"/>
                </a:solidFill>
                <a:latin typeface="Aptos"/>
              </a:rPr>
              <a:t>Common-state replay</a:t>
            </a:r>
          </a:p>
        </p:txBody>
      </p:sp>
      <p:pic>
        <p:nvPicPr>
          <p:cNvPr id="6" name="Picture 5" descr="fig_maassim_common_state_r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83614"/>
            <a:ext cx="4892040" cy="1513332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355080" y="941832"/>
            <a:ext cx="4892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1">
                <a:solidFill>
                  <a:srgbClr val="16325C"/>
                </a:solidFill>
                <a:latin typeface="Aptos"/>
              </a:rPr>
              <a:t>Controlled baselines</a:t>
            </a:r>
          </a:p>
        </p:txBody>
      </p:sp>
      <p:pic>
        <p:nvPicPr>
          <p:cNvPr id="8" name="Picture 7" descr="fig_maassim_controlled_base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61779"/>
            <a:ext cx="4892040" cy="1557002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85800" y="3502152"/>
            <a:ext cx="4892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1">
                <a:solidFill>
                  <a:srgbClr val="16325C"/>
                </a:solidFill>
                <a:latin typeface="Aptos"/>
              </a:rPr>
              <a:t>KPI calibration</a:t>
            </a:r>
          </a:p>
        </p:txBody>
      </p:sp>
      <p:pic>
        <p:nvPicPr>
          <p:cNvPr id="10" name="Picture 9" descr="fig_maassim_kpi_calibration_sw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2433" y="3794760"/>
            <a:ext cx="2378774" cy="2011680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55080" y="3502152"/>
            <a:ext cx="4892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1">
                <a:solidFill>
                  <a:srgbClr val="16325C"/>
                </a:solidFill>
                <a:latin typeface="Aptos"/>
              </a:rPr>
              <a:t>LLM scenario suite</a:t>
            </a:r>
          </a:p>
        </p:txBody>
      </p:sp>
      <p:pic>
        <p:nvPicPr>
          <p:cNvPr id="12" name="Picture 11" descr="fig_maassim_llm_scenario_su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910871"/>
            <a:ext cx="4892040" cy="1779457"/>
          </a:xfrm>
          <a:prstGeom prst="rect">
            <a:avLst/>
          </a:prstGeom>
          <a:ln w="7620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PACT / MaaSSim experiment package · generated from local artifacts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04672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2400" b="1">
                <a:solidFill>
                  <a:srgbClr val="16325C"/>
                </a:solidFill>
                <a:latin typeface="Aptos"/>
              </a:rPr>
              <a:t>Takeaways and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31520"/>
            <a:ext cx="7955279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050" b="0">
                <a:solidFill>
                  <a:srgbClr val="444E5C"/>
                </a:solidFill>
                <a:latin typeface="Aptos"/>
              </a:rPr>
              <a:t>What this MaaSSim package should support in slides/rebuttal.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15568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520440" cy="196596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35608"/>
            <a:ext cx="32461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50" b="1">
                <a:solidFill>
                  <a:srgbClr val="285CA0"/>
                </a:solidFill>
                <a:latin typeface="Aptos"/>
              </a:rPr>
              <a:t>1. Why MaaSSim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01368"/>
            <a:ext cx="3246120" cy="1399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50" b="0">
                <a:solidFill>
                  <a:srgbClr val="1C232D"/>
                </a:solidFill>
                <a:latin typeface="Aptos"/>
              </a:rPr>
              <a:t>Road-network dispatch gives realistic queues, vehicle movements, wait/fare/travel features, and legal assignment menus.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520440" cy="196596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35608"/>
            <a:ext cx="32461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50" b="1">
                <a:solidFill>
                  <a:srgbClr val="257A6F"/>
                </a:solidFill>
                <a:latin typeface="Aptos"/>
              </a:rPr>
              <a:t>2. What PACT adds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01368"/>
            <a:ext cx="3246120" cy="1399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50" b="0">
                <a:solidFill>
                  <a:srgbClr val="1C232D"/>
                </a:solidFill>
                <a:latin typeface="Aptos"/>
              </a:rPr>
              <a:t>Driver-persona posterior turns hidden accept/reject rules into assignment utility and risk estimates.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2926080" cy="196596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1435608"/>
            <a:ext cx="26517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50" b="1">
                <a:solidFill>
                  <a:srgbClr val="C97536"/>
                </a:solidFill>
                <a:latin typeface="Aptos"/>
              </a:rPr>
              <a:t>3. Where it helps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39" y="1801368"/>
            <a:ext cx="2651760" cy="1399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50" b="0">
                <a:solidFill>
                  <a:srgbClr val="1C232D"/>
                </a:solidFill>
                <a:latin typeface="Aptos"/>
              </a:rPr>
              <a:t>Persona-risk stress: fewer driver rejects and larger utility gap over prompt baselines.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5029200" cy="169164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13048"/>
            <a:ext cx="47548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50" b="1">
                <a:solidFill>
                  <a:srgbClr val="AC3F3F"/>
                </a:solidFill>
                <a:latin typeface="Aptos"/>
              </a:rPr>
              <a:t>Caveat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78808"/>
            <a:ext cx="4754880" cy="11247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50" b="0">
                <a:solidFill>
                  <a:srgbClr val="1C232D"/>
                </a:solidFill>
                <a:latin typeface="Aptos"/>
              </a:rPr>
              <a:t>The scenario-suite per-seed rows are current cache-first/live-fill reconstruction, not byte-for-byte recovery of deleted original rows. Treat as paired-analysis artifact.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703320"/>
            <a:ext cx="5120640" cy="1691640"/>
          </a:xfrm>
          <a:prstGeom prst="roundRect">
            <a:avLst/>
          </a:prstGeom>
          <a:solidFill>
            <a:srgbClr val="F6F8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813048"/>
            <a:ext cx="4846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250" b="1">
                <a:solidFill>
                  <a:srgbClr val="16325C"/>
                </a:solidFill>
                <a:latin typeface="Aptos"/>
              </a:rPr>
              <a:t>Deck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178808"/>
            <a:ext cx="4846320" cy="11247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1150" b="0">
                <a:solidFill>
                  <a:srgbClr val="1C232D"/>
                </a:solidFill>
                <a:latin typeface="Aptos"/>
              </a:rPr>
              <a:t>All figures come from arr_paper/figs. The conflict animation is embedded as GIF and also kept as a standalone file.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60704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r>
              <a:rPr sz="850" b="0">
                <a:solidFill>
                  <a:srgbClr val="444E5C"/>
                </a:solidFill>
                <a:latin typeface="Aptos"/>
              </a:rPr>
              <a:t>PACT / MaaSSim experiment package · generated from local artifacts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